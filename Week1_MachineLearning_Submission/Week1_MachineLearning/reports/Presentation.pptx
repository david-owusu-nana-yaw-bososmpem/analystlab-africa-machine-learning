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JetBrains Mono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368998"/>
            <a:ext cx="72390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869727"/>
            <a:ext cx="1775073" cy="266700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368998"/>
            <a:ext cx="7239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1869727"/>
            <a:ext cx="3048000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925" y="1879252"/>
            <a:ext cx="3028950" cy="3028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365027"/>
            <a:ext cx="770096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Calibri"/>
              </a:rPr>
              <a:t>Foundations of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94658"/>
            <a:ext cx="9048750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Calibri"/>
              </a:rPr>
              <a:t>ShopSmart Retail Ltd. Predictive Modeling &amp; Return Risk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926877"/>
            <a:ext cx="160362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Calibri"/>
              </a:rPr>
              <a:t>ANALYSTLAB AFRICA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8973" y="1926877"/>
            <a:ext cx="189327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Calibri"/>
              </a:rPr>
              <a:t>Week 1 Technical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45223"/>
            <a:ext cx="242050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alibri"/>
              </a:rPr>
              <a:t>PRIMARY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816673"/>
            <a:ext cx="24205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Calibri"/>
              </a:rPr>
              <a:t>Order_Total &amp; Return_Flag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0802" y="4645223"/>
            <a:ext cx="206499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alibri"/>
              </a:rPr>
              <a:t>DATASET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0802" y="4816673"/>
            <a:ext cx="206499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Calibri"/>
              </a:rPr>
              <a:t>50,000 Master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47937"/>
            <a:ext cx="3505200" cy="26670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547937"/>
            <a:ext cx="3505200" cy="26670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47937"/>
            <a:ext cx="3505200" cy="26670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547937"/>
            <a:ext cx="38100" cy="2667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2547937"/>
            <a:ext cx="38100" cy="2667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547937"/>
            <a:ext cx="38100" cy="2667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09997" y="3738562"/>
            <a:ext cx="952500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37050" y="3490912"/>
            <a:ext cx="952500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986087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862262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2862262"/>
            <a:ext cx="1714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Calibri"/>
              </a:rPr>
              <a:t>PROJECT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Calibri"/>
              </a:rPr>
              <a:t>Core Business 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16205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Calibri"/>
              </a:rPr>
              <a:t>Translating machine learning objectives into commercial insights.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586287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Calibri"/>
              </a:rPr>
              <a:t>Goal: Revenue planning and demand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6300" y="4586287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C2626"/>
                </a:solidFill>
                <a:latin typeface="Calibri"/>
              </a:rPr>
              <a:t>Goal: Operational mitigation &amp; logistics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100" y="4586287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Calibri"/>
              </a:rPr>
              <a:t>Goal: Actionable executive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3500437"/>
            <a:ext cx="2952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Calibri"/>
              </a:rPr>
              <a:t>Predict continuous continuous total order value ().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6300" y="3252787"/>
            <a:ext cx="2952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Calibri"/>
              </a:rPr>
              <a:t>Predict binary likelihood of an order return ().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0100" y="3252787"/>
            <a:ext cx="2952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Calibri"/>
              </a:rPr>
              <a:t>Build robust baseline models, evaluate performance, and extract key variable drivers.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400" y="2852737"/>
            <a:ext cx="274034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Calibri"/>
              </a:rPr>
              <a:t>1. Order Value 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147" y="3757612"/>
            <a:ext cx="1123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JetBrains Mono"/>
              </a:rPr>
              <a:t>Order_Total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852737"/>
            <a:ext cx="305682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Calibri"/>
              </a:rPr>
              <a:t>2. Return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4200" y="3509962"/>
            <a:ext cx="1123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JetBrains Mono"/>
              </a:rPr>
              <a:t>Return_Flag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850" y="2852737"/>
            <a:ext cx="258274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Calibri"/>
              </a:rPr>
              <a:t>3.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0" y="1352550"/>
            <a:ext cx="5181600" cy="4381500"/>
          </a:xfrm>
          <a:prstGeom prst="roundRect">
            <a:avLst>
              <a:gd name="adj" fmla="val 260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47875"/>
            <a:ext cx="5486400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124200"/>
            <a:ext cx="5486400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200525"/>
            <a:ext cx="548640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05600" y="2514600"/>
            <a:ext cx="4572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05600" y="3514725"/>
            <a:ext cx="4572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0100" y="22812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0100" y="3357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0100" y="43910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05600" y="3276600"/>
            <a:ext cx="4572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05600" y="4276725"/>
            <a:ext cx="4572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Calibri"/>
              </a:rPr>
              <a:t>DATA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Calibri"/>
              </a:rPr>
              <a:t>Data Preparation &amp;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2066925"/>
            <a:ext cx="5486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Calibri"/>
              </a:rPr>
              <a:t>Master Dataset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22812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335756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4391025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2514600"/>
            <a:ext cx="5486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Calibri"/>
              </a:rPr>
              <a:t>CLEAN UNIQUE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2667000"/>
            <a:ext cx="5486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Calibri"/>
              </a:rPr>
              <a:t>50,000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3514725"/>
            <a:ext cx="5486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Calibri"/>
              </a:rPr>
              <a:t>RETURNED ORDERS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0" y="3667125"/>
            <a:ext cx="5486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87171"/>
                </a:solidFill>
                <a:latin typeface="Calibri"/>
              </a:rPr>
              <a:t>2,442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0" y="4514850"/>
            <a:ext cx="5486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Calibri"/>
              </a:rPr>
              <a:t>IMBALANCE CLASS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0" y="4667250"/>
            <a:ext cx="54864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ACC15"/>
                </a:solidFill>
                <a:latin typeface="Calibri"/>
              </a:rPr>
              <a:t>4.88% Return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7800" y="2238375"/>
            <a:ext cx="58507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Calibri"/>
              </a:rPr>
              <a:t>Table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7800" y="2457450"/>
            <a:ext cx="4552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Calibri"/>
              </a:rPr>
              <a:t>Consolidated isolated ShopSmart retail tables into unified master dataset.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7800" y="3314700"/>
            <a:ext cx="58507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Calibri"/>
              </a:rPr>
              <a:t>Quality Auditing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7800" y="3533775"/>
            <a:ext cx="4552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Calibri"/>
              </a:rPr>
              <a:t>Verified zero duplicate Order IDs and 100% record completeness across rows.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4429125"/>
            <a:ext cx="55665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Calibri"/>
              </a:rPr>
              <a:t>Stratified Train/Test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7800" y="4648200"/>
            <a:ext cx="53014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Calibri"/>
              </a:rPr>
              <a:t>Created 40,000 / 10,000 split preserving identical class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7025"/>
            <a:ext cx="10972800" cy="1209675"/>
          </a:xfrm>
          <a:prstGeom prst="roundRect">
            <a:avLst>
              <a:gd name="adj" fmla="val 6299"/>
            </a:avLst>
          </a:prstGeom>
          <a:solidFill>
            <a:srgbClr val="FFF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52550"/>
            <a:ext cx="34988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7000" y="1352550"/>
            <a:ext cx="34988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64400" y="1352550"/>
            <a:ext cx="3517850" cy="1247775"/>
          </a:xfrm>
          <a:prstGeom prst="roundRect">
            <a:avLst>
              <a:gd name="adj" fmla="val 916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067175"/>
            <a:ext cx="10972800" cy="952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867025"/>
            <a:ext cx="10972800" cy="952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867025"/>
            <a:ext cx="57150" cy="12096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72875" y="2867025"/>
            <a:ext cx="9525" cy="120967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109912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Calibri"/>
              </a:rPr>
              <a:t>MODEL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Calibri"/>
              </a:rPr>
              <a:t>Linear Regression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381375"/>
            <a:ext cx="10544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B45309"/>
                </a:solidFill>
                <a:latin typeface="Calibri"/>
              </a:rPr>
              <a:t>The high R² (0.8830) is driven by direct mathematical construction. Order_Total is calculated directly from primary variables: </a:t>
            </a:r>
            <a:r>
              <a:rPr sz="1200" b="1" i="0" u="none">
                <a:solidFill>
                  <a:srgbClr val="B45309"/>
                </a:solidFill>
                <a:latin typeface="Calibri"/>
              </a:rPr>
              <a:t>Quantity, Unit_Price, Discount, and Shipping_Cost</a:t>
            </a:r>
            <a:r>
              <a:rPr sz="1200" b="0" i="0" u="none">
                <a:solidFill>
                  <a:srgbClr val="B45309"/>
                </a:solidFill>
                <a:latin typeface="Calibri"/>
              </a:rPr>
              <a:t>. Largest fitted coefficients center on Unit_Price and Quantity.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906" y="1590675"/>
            <a:ext cx="3778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Calibri"/>
              </a:rPr>
              <a:t>MEAN ABSOLUTE ERROR (MAE)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906" y="1819275"/>
            <a:ext cx="3778187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Calibri"/>
              </a:rPr>
              <a:t>31,010.22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306" y="1590675"/>
            <a:ext cx="3778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Calibri"/>
              </a:rPr>
              <a:t>ROOT MEAN SQ. ERROR (RMSE)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306" y="1819275"/>
            <a:ext cx="3778187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Calibri"/>
              </a:rPr>
              <a:t>41,268.26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4231" y="1600200"/>
            <a:ext cx="3778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Calibri"/>
              </a:rPr>
              <a:t>R-SQUARED SCORE (R²)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4231" y="1828800"/>
            <a:ext cx="3778187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2563EB"/>
                </a:solidFill>
                <a:latin typeface="Calibri"/>
              </a:rPr>
              <a:t>0.8830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50" y="3105150"/>
            <a:ext cx="577240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2400E"/>
                </a:solidFill>
                <a:latin typeface="Calibri"/>
              </a:rPr>
              <a:t>Critical Technical Caution: Mathematical Construction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05500" y="1352550"/>
            <a:ext cx="5676900" cy="2457450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52550"/>
            <a:ext cx="2457450" cy="1152525"/>
          </a:xfrm>
          <a:prstGeom prst="roundRect">
            <a:avLst>
              <a:gd name="adj" fmla="val 66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19450" y="1352550"/>
            <a:ext cx="2457450" cy="1152525"/>
          </a:xfrm>
          <a:prstGeom prst="roundRect">
            <a:avLst>
              <a:gd name="adj" fmla="val 661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657475"/>
            <a:ext cx="2457450" cy="1152525"/>
          </a:xfrm>
          <a:prstGeom prst="roundRect">
            <a:avLst>
              <a:gd name="adj" fmla="val 66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19450" y="2657475"/>
            <a:ext cx="2457450" cy="1152525"/>
          </a:xfrm>
          <a:prstGeom prst="roundRect">
            <a:avLst>
              <a:gd name="adj" fmla="val 661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Calibri"/>
              </a:rPr>
              <a:t>MODEL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Calibri"/>
              </a:rPr>
              <a:t>Logistic Regression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300" y="1732657"/>
            <a:ext cx="59817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Calibri"/>
              </a:rPr>
              <a:t>Imbalance Dilemma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300" y="2104132"/>
            <a:ext cx="51625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Calibri"/>
              </a:rPr>
              <a:t>Because only </a:t>
            </a:r>
            <a:r>
              <a:rPr sz="1200" b="1" i="0" u="none">
                <a:solidFill>
                  <a:srgbClr val="FACC15"/>
                </a:solidFill>
                <a:latin typeface="Calibri"/>
              </a:rPr>
              <a:t>4.88%</a:t>
            </a:r>
            <a:r>
              <a:rPr sz="1200" b="0" i="0" u="none">
                <a:solidFill>
                  <a:srgbClr val="CBD5E1"/>
                </a:solidFill>
                <a:latin typeface="Calibri"/>
              </a:rPr>
              <a:t> of orders are returned, standard accuracy is an inadequate metric.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2744092"/>
            <a:ext cx="5162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Calibri"/>
              </a:rPr>
              <a:t>The low precision (4.75%) and F1 score (0.0856) confirm that the baseline model struggles with positive-class identification, flagging far too many false positives.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1552575"/>
            <a:ext cx="2571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1733550"/>
            <a:ext cx="257175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Calibri"/>
              </a:rPr>
              <a:t>0.5430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171700"/>
            <a:ext cx="2571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Calibri"/>
              </a:rPr>
              <a:t>Baseline overall correct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475" y="1552575"/>
            <a:ext cx="2571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Calibri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475" y="1733550"/>
            <a:ext cx="257175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DC2626"/>
                </a:solidFill>
                <a:latin typeface="Calibri"/>
              </a:rPr>
              <a:t>0.0475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475" y="2171700"/>
            <a:ext cx="2571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F4444"/>
                </a:solidFill>
                <a:latin typeface="Calibri"/>
              </a:rPr>
              <a:t>High rate of false positives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2857500"/>
            <a:ext cx="2571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Calibri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038475"/>
            <a:ext cx="257175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Calibri"/>
              </a:rPr>
              <a:t>0.4385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476625"/>
            <a:ext cx="2571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Calibri"/>
              </a:rPr>
              <a:t>Captures ~44% of true returns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475" y="2857500"/>
            <a:ext cx="2571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Calibri"/>
              </a:rP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475" y="3038475"/>
            <a:ext cx="257175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DC2626"/>
                </a:solidFill>
                <a:latin typeface="Calibri"/>
              </a:rPr>
              <a:t>0.0856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475" y="3476625"/>
            <a:ext cx="2571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F4444"/>
                </a:solidFill>
                <a:latin typeface="Calibri"/>
              </a:rPr>
              <a:t>Weak harmonic mean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52550"/>
            <a:ext cx="5372100" cy="504825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352550"/>
            <a:ext cx="5372100" cy="504825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2352675"/>
            <a:ext cx="48196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2886075"/>
            <a:ext cx="48196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3419475"/>
            <a:ext cx="48196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86525" y="2352675"/>
            <a:ext cx="48196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86525" y="2886075"/>
            <a:ext cx="48196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86525" y="3419475"/>
            <a:ext cx="48196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43062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643062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Calibri"/>
              </a:rPr>
              <a:t>MODEL INTERPRETABILITY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Calibri"/>
              </a:rPr>
              <a:t>Feature Importance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98170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>
                <a:solidFill>
                  <a:srgbClr val="0F172A"/>
                </a:solidFill>
                <a:latin typeface="Calibri"/>
              </a:rPr>
              <a:t>Direct structural impact on total calculation.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5981700"/>
            <a:ext cx="57054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Calibri"/>
              </a:rPr>
              <a:t>Coefficients reflect predictive associations, not causality.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000250"/>
            <a:ext cx="6024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Calibri"/>
              </a:rPr>
              <a:t>Largest Linear Regression Coefficients: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2000250"/>
            <a:ext cx="57054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Calibri"/>
              </a:rPr>
              <a:t>Largest Logistic Regression Absolute Coefficients: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1628775"/>
            <a:ext cx="23350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Calibri"/>
              </a:rPr>
              <a:t>Order Value Drivers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225" y="1628775"/>
            <a:ext cx="232040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Calibri"/>
              </a:rPr>
              <a:t>Return Flag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2476500"/>
            <a:ext cx="103956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Calibri"/>
              </a:rPr>
              <a:t>Unit_Price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055" y="2476500"/>
            <a:ext cx="14931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Calibri"/>
              </a:rPr>
              <a:t>Primary Positive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3009900"/>
            <a:ext cx="90383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Calibri"/>
              </a:rPr>
              <a:t>Quantity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9055" y="3009900"/>
            <a:ext cx="14931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Calibri"/>
              </a:rPr>
              <a:t>Primary Positive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3543300"/>
            <a:ext cx="15137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Calibri"/>
              </a:rPr>
              <a:t>Brand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1338" y="3543300"/>
            <a:ext cx="157776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Calibri"/>
              </a:rPr>
              <a:t>Secondary 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8450" y="2476500"/>
            <a:ext cx="15137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Calibri"/>
              </a:rPr>
              <a:t>Brand Indicators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7934" y="2476500"/>
            <a:ext cx="154539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Calibri"/>
              </a:rPr>
              <a:t>Dominant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3009900"/>
            <a:ext cx="159841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Calibri"/>
              </a:rPr>
              <a:t>Product 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3235" y="3009900"/>
            <a:ext cx="15137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Calibri"/>
              </a:rPr>
              <a:t>Moderate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8450" y="3543300"/>
            <a:ext cx="154558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Calibri"/>
              </a:rPr>
              <a:t>Store Geography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8907" y="3543300"/>
            <a:ext cx="164417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Calibri"/>
              </a:rPr>
              <a:t>Minor Association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52550"/>
            <a:ext cx="5391150" cy="2428875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1352550"/>
            <a:ext cx="5391150" cy="2428875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71925"/>
            <a:ext cx="5391150" cy="2428875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971925"/>
            <a:ext cx="5391150" cy="2428875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628775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628775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48150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24815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Calibri"/>
              </a:rPr>
              <a:t>COMMERCIAL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Calibri"/>
              </a:rPr>
              <a:t>Key Business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1590675"/>
            <a:ext cx="51273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Calibri"/>
              </a:rPr>
              <a:t>Top Tier Customer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1828800"/>
            <a:ext cx="48832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Calibri"/>
              </a:rPr>
              <a:t>154,578.70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2171700"/>
            <a:ext cx="488323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Calibri"/>
              </a:rPr>
              <a:t>Highest average segment order value found in </a:t>
            </a:r>
            <a:r>
              <a:rPr sz="1050" b="1" i="0" u="none">
                <a:solidFill>
                  <a:srgbClr val="64748B"/>
                </a:solidFill>
                <a:latin typeface="Calibri"/>
              </a:rPr>
              <a:t>Silver Customers</a:t>
            </a:r>
            <a:r>
              <a:rPr sz="1050" b="0" i="0" u="none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525" y="1590675"/>
            <a:ext cx="468925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Calibri"/>
              </a:rPr>
              <a:t>Peak Demographic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525" y="1828800"/>
            <a:ext cx="446595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Calibri"/>
              </a:rPr>
              <a:t>156,209.30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525" y="2171700"/>
            <a:ext cx="446595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Calibri"/>
              </a:rPr>
              <a:t>Highest average order value observed in </a:t>
            </a:r>
            <a:r>
              <a:rPr sz="1050" b="1" i="0" u="none">
                <a:solidFill>
                  <a:srgbClr val="64748B"/>
                </a:solidFill>
                <a:latin typeface="Calibri"/>
              </a:rPr>
              <a:t>Age Group 55–64</a:t>
            </a:r>
            <a:r>
              <a:rPr sz="1050" b="0" i="0" u="none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" y="4210050"/>
            <a:ext cx="53401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Calibri"/>
              </a:rPr>
              <a:t>Top Performing Retail 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" y="4448175"/>
            <a:ext cx="508582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59669"/>
                </a:solidFill>
                <a:latin typeface="Calibri"/>
              </a:rPr>
              <a:t>317,657,047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" y="4791075"/>
            <a:ext cx="508582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Calibri"/>
              </a:rPr>
              <a:t>Highest total aggregate sales: </a:t>
            </a:r>
            <a:r>
              <a:rPr sz="1050" b="1" i="0" u="none">
                <a:solidFill>
                  <a:srgbClr val="64748B"/>
                </a:solidFill>
                <a:latin typeface="Calibri"/>
              </a:rPr>
              <a:t>STR015 - ShopSmart Lagos (North)</a:t>
            </a:r>
            <a:r>
              <a:rPr sz="1050" b="0" i="0" u="none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4210050"/>
            <a:ext cx="434878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Calibri"/>
              </a:rPr>
              <a:t>Lowest Product Test MAE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0375" y="4448175"/>
            <a:ext cx="41417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7C3AED"/>
                </a:solidFill>
                <a:latin typeface="Calibri"/>
              </a:rPr>
              <a:t>16,456.72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0375" y="4791075"/>
            <a:ext cx="4141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Calibri"/>
              </a:rPr>
              <a:t>Achieved by </a:t>
            </a:r>
            <a:r>
              <a:rPr sz="1050" b="1" i="0" u="none">
                <a:solidFill>
                  <a:srgbClr val="64748B"/>
                </a:solidFill>
                <a:latin typeface="Calibri"/>
              </a:rPr>
              <a:t>Beauty Item 189</a:t>
            </a:r>
            <a:r>
              <a:rPr sz="1050" b="0" i="0" u="none">
                <a:solidFill>
                  <a:srgbClr val="64748B"/>
                </a:solidFill>
                <a:latin typeface="Calibri"/>
              </a:rPr>
              <a:t> across 16 test set orders.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52550"/>
            <a:ext cx="5372100" cy="419100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352550"/>
            <a:ext cx="5372100" cy="4191000"/>
          </a:xfrm>
          <a:prstGeom prst="roundRect">
            <a:avLst>
              <a:gd name="adj" fmla="val 272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33537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633537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Calibri"/>
              </a:rPr>
              <a:t>STRATEGIC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Calibri"/>
              </a:rPr>
              <a:t>Recommendations &amp;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51244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Calibri"/>
              </a:rPr>
              <a:t>Priority: Model improvement &amp; operational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5124450"/>
            <a:ext cx="57054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Calibri"/>
              </a:rPr>
              <a:t>Caution: Avoid non-causal decision making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1628775"/>
            <a:ext cx="263060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4532D"/>
                </a:solidFill>
                <a:latin typeface="Calibri"/>
              </a:rPr>
              <a:t>Strategic Action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00025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166534"/>
                </a:solidFill>
                <a:latin typeface="Calibri"/>
              </a:rPr>
              <a:t>• Regression Baseline:</a:t>
            </a:r>
            <a:r>
              <a:rPr sz="1125" b="0" i="0" u="none">
                <a:solidFill>
                  <a:srgbClr val="166534"/>
                </a:solidFill>
                <a:latin typeface="Calibri"/>
              </a:rPr>
              <a:t> Deploy linear model for general forecasting and demand 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51460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166534"/>
                </a:solidFill>
                <a:latin typeface="Calibri"/>
              </a:rPr>
              <a:t>• Imbalance Handling:</a:t>
            </a:r>
            <a:r>
              <a:rPr sz="1125" b="0" i="0" u="none">
                <a:solidFill>
                  <a:srgbClr val="166534"/>
                </a:solidFill>
                <a:latin typeface="Calibri"/>
              </a:rPr>
              <a:t> Implement SMOTE or threshold tuning for return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02895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166534"/>
                </a:solidFill>
                <a:latin typeface="Calibri"/>
              </a:rPr>
              <a:t>• Deep Dive Investigations:</a:t>
            </a:r>
            <a:r>
              <a:rPr sz="1125" b="0" i="0" u="none">
                <a:solidFill>
                  <a:srgbClr val="166534"/>
                </a:solidFill>
                <a:latin typeface="Calibri"/>
              </a:rPr>
              <a:t> Audit high-return brands and stores with extra operational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1628775"/>
            <a:ext cx="26534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F1D1D"/>
                </a:solidFill>
                <a:latin typeface="Calibri"/>
              </a:rPr>
              <a:t>Key Model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200025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991B1B"/>
                </a:solidFill>
                <a:latin typeface="Calibri"/>
              </a:rPr>
              <a:t>• Non-Causal Associations:</a:t>
            </a:r>
            <a:r>
              <a:rPr sz="1125" b="0" i="0" u="none">
                <a:solidFill>
                  <a:srgbClr val="991B1B"/>
                </a:solidFill>
                <a:latin typeface="Calibri"/>
              </a:rPr>
              <a:t> Treat all coefficients as predictive correlations, not root causes.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251460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991B1B"/>
                </a:solidFill>
                <a:latin typeface="Calibri"/>
              </a:rPr>
              <a:t>• Drift Risk:</a:t>
            </a:r>
            <a:r>
              <a:rPr sz="1125" b="0" i="0" u="none">
                <a:solidFill>
                  <a:srgbClr val="991B1B"/>
                </a:solidFill>
                <a:latin typeface="Calibri"/>
              </a:rPr>
              <a:t> Monitor real-time performance as customer shopping behaviors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02895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991B1B"/>
                </a:solidFill>
                <a:latin typeface="Calibri"/>
              </a:rPr>
              <a:t>• Context Gaps:</a:t>
            </a:r>
            <a:r>
              <a:rPr sz="1125" b="0" i="0" u="none">
                <a:solidFill>
                  <a:srgbClr val="991B1B"/>
                </a:solidFill>
                <a:latin typeface="Calibri"/>
              </a:rPr>
              <a:t> Operational logistics context is missing from pure transactional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578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81325"/>
            <a:ext cx="3530500" cy="140970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600" y="2981325"/>
            <a:ext cx="3530649" cy="140970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750" y="2981325"/>
            <a:ext cx="3530500" cy="140970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8578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19450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3219450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3219450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8695" y="6105525"/>
            <a:ext cx="10477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5828" y="6105525"/>
            <a:ext cx="133350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Calibri"/>
              </a:rPr>
              <a:t>PROJECT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8382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Calibri"/>
              </a:rPr>
              <a:t>Artifacts &amp;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31445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Calibri"/>
              </a:rPr>
              <a:t>Complete code, model binaries, and evaluation assets.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96000"/>
            <a:ext cx="39807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Calibri"/>
              </a:rPr>
              <a:t>AnalystLab Africa • ShopSmart Retail ML Foundations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00450"/>
            <a:ext cx="400870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Calibri"/>
              </a:rPr>
              <a:t>Notebook &amp;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838575"/>
            <a:ext cx="3149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Calibri"/>
              </a:rPr>
              <a:t>Fully documented Jupyter notebook with prepared datasets.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725" y="3600450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Calibri"/>
              </a:rPr>
              <a:t>Model Binaries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725" y="3838575"/>
            <a:ext cx="31496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Calibri"/>
              </a:rPr>
              <a:t>Saved Linear &amp; Logistic regression models with scaler and encoder.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875" y="3600450"/>
            <a:ext cx="39021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Calibri"/>
              </a:rPr>
              <a:t>Prediction 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875" y="3838575"/>
            <a:ext cx="3149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Calibri"/>
              </a:rPr>
              <a:t>Interactive prediction pipeline located in </a:t>
            </a:r>
            <a:r>
              <a:rPr sz="900" b="0" i="0" u="none">
                <a:solidFill>
                  <a:srgbClr val="38BDF8"/>
                </a:solidFill>
                <a:latin typeface="Calibri"/>
              </a:rPr>
              <a:t>scripts/predict.py</a:t>
            </a:r>
            <a:r>
              <a:rPr sz="1050" b="0" i="0" u="none">
                <a:solidFill>
                  <a:srgbClr val="CBD5E1"/>
                </a:solidFill>
                <a:latin typeface="Calibr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8695" y="6096000"/>
            <a:ext cx="1240482" cy="15240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Calibri"/>
              </a:rPr>
              <a:t>README.md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5828" y="6096000"/>
            <a:ext cx="1433214" cy="1524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Calibri"/>
              </a:rPr>
              <a:t>requirements.txt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617</Words>
  <Application>Microsoft Office PowerPoint</Application>
  <PresentationFormat>Widescreen</PresentationFormat>
  <Paragraphs>125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acer</cp:lastModifiedBy>
  <cp:revision>2</cp:revision>
  <dcterms:created xsi:type="dcterms:W3CDTF">2013-01-27T09:14:16Z</dcterms:created>
  <dcterms:modified xsi:type="dcterms:W3CDTF">2026-10-19T11:20:31Z</dcterms:modified>
  <cp:category/>
</cp:coreProperties>
</file>